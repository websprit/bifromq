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onsolas"/>
              </a:defRPr>
            </a:pPr>
            <a:r>
              <a:t>MQTT消息全生命周期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D3EE"/>
                </a:solidFill>
                <a:latin typeface="Consolas"/>
              </a:defRPr>
            </a:pPr>
            <a:r>
              <a:t>Apache BifroMQ (Incubating) 架构深度解析  |  网络层 · 协议处理 · 分布式路由 · 持久化存储 · QoS保障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BifroMQ 整体架构总览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五层架构体系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传输层: Netty TCP/TLS/WS/QUIC + MQTT Codec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RPC层: gRPC + InProc优化 (base-rpc)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存储层: Raft共识 + RocksDB本地引擎 (base-kv)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服务层: Dist / Inbox / Retain / SessionDict 四大核心服务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插件层: Auth / Throttler / Settings / Events 可扩展SPI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核心设计理念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微服务化内部架构: 每个领域服务独立gRPC通信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多租户原生隔离: tenantId全链路透传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计算下推: CoProc在存储层执行领域逻辑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MQTT消息生命周期 — 6大阶段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97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接入: 网络连接与解码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44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客户端通过TCP/QUIC连接 → Netty Pipeline解码MQTT帧 → 认证握手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167132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认证: 身份与权限校验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04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AuthProvider校验 → SessionDict注册会话 → 同clientId旧会话踢出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14800" y="263144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路由: 主题匹配与扇出分发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644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DistService.topicMatch() → TopicTrie匹配 → DeliverExecutorGroup扇出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14800" y="359156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77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持久化: 离线消息存储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24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InboxService → InboxStoreCoProc.batchInsert → RocksDB KV存储 (QoS1/2)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114800" y="455168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498348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投递: 消息推送到订阅者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846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Transient: LocalDistService直接推送 | Persistent: InboxReader.fetch()流式消费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114800" y="551180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85216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59436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确认: QoS级别保障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144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QoS0: 即发即弃 | QoS1: PUBACK确认+重发 | QoS2: PUBREC→PUBREL→PUBCOMP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网络接入层 — Netty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TCP模式Pipeline (按顺序)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SslHandler → ProxyProtocolHandler → ChannelTrafficShapingHandler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MqttEncoder → MqttDecoder → MQTTMessageDebounceHandler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ConditionalRejectHandler → MQTTPreludeHandler → MQTTConnectHandler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QUIC模式差异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QuicChannel层: QUICConnectionHandler + HmacQuicTokenHandler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QuicStreamChannel: QUICStreamInitializer → 复用MqttEncoder/Decoder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Control Stream (0): ControlStreamHandler → 仅CONNECT/SUBSCRIBE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Data Stream (1..N): DataStreamHandler → 仅PUBLISH/PUBACK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关键类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QUICUtils: isQuic() / connectionChannel() / closeConnection()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QUIC 多流架构设计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  <a:latin typeface="Consolas"/>
              </a:defRPr>
            </a:pPr>
            <a:r>
              <a:t>QUICStreamRouter 核心设计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Stream 0 (控制流): CONNECT, CONNACK, SUBSCRIBE, SUBACK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UNSUBSCRIBE, UNSUBACK, PINGREQ, PINGRESP, DISCONNECT, AUTH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Stream 1..N (数据流): PUBLISH, PUBACK, PUBREC, PUBREL, PUBCOMP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主题路由: topic.hashCode() % dataStreamCount → 分配数据流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QoS确认回路由: packetIdToStreamIndex → ACK回到原始流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  <a:latin typeface="Consolas"/>
              </a:defRPr>
            </a:pPr>
            <a:r>
              <a:t>优势与安全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控制面与数据面分离 → 消除队头阻塞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HmacQuicTokenHandler: HMAC-SHA256 + 256-bit随机密钥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Token格式: [4B IP][2B port][8B timestamp][2B pad][16B HMAC][DCID]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60秒有效期 + 常量时间比较防时序攻击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MQTT协议解码流程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关键类与方法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MqttDecoder: Netty MQTT3/4/5解码器 → 固定头+可变头+载荷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MQTTMessageDebounceHandler.channelRead(): 去重防重放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ConditionalRejectHandler: 过载时快速拒绝连接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MQTTPreludeHandler: MQTT协议前导握手处理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MQTTConnectHandler.channelRead0(): 处理CONNECT报文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处理流程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验证协议版本 (3.1 / 3.1.1 / 5.0)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提取ClientInfo (tenantId, userId, clientId)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调用authProvider.checkPermission(clientInfo, CONNECT)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创建MQTTSessionContext → 发送CONNACK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MQTTSessionHandler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接管后续所有报文 → channelRead()按类型分发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认证与授权 — 会话建立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MQTTConnectHandler处理流程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解析CONNECT → 提取tenantId / userId / clientId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authProvider.checkPermission(clientInfo, MQTTAction.CONNECT)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3. 通过 → 创建MQTTSessionContext → CONNACK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4. 拒绝 → CONNACK(reasonCode=NOT_AUTHORIZED)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会话类型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Transient (cleanSession=1): MQTTTransientSessionHandler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订阅路由: localDistService.match() → distClient.addRoute()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Persistent (cleanSession=0): MQTTPersistentSessionHandler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订阅路由: inboxClient.sub() → InboxService → distClient.addRoute()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SessionDictService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dict() bidi-stream → SessionRegistry注册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同clientId冲突: kick旧会话 → Quit → 旧broker断开连接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PUBLISH消息发布路径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MQTTSessionHandler.doPub() 核心流程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MQTTMessageHandler.channelRead() → 识别PUBLISH报文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handlePubMsg() → 提取topic, qos, payload, retain标志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3. authProvider.checkPermission(clientInfo, PUB_ACTION)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4. resourceThrottler.check() → 资源限制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5. distClient.pub(reqId, topic, message, publisher)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gRPC DistService.dist() 流式RPC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Retain消息触发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if message.isRetain():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retainClient.retain(reqId, topic, qos, payload, expiry)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gRPC RetainService.retain()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关键类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MQTTSessionHandler, MQTTMessageHandler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IDistClient, IRetainClient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DistService — 消息分发核心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gRPC接口 (DistService.proto)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match(MatchRequest) → 注册订阅路由  [WRUnary]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unmatch(UnmatchRequest) → 注销订阅路由  [WRUnary]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dist(stream DistRequest) → 流式消息分发  [HRWPipeline]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DistWorkerCoProc — KV协处理器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mutate(): BATCHMATCH → batchAddRoute()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写入normalRouteKey或RouteGroup到KV存储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query(): BATCHDIST → batchDist()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routeCache.get(tenantId, topic) → 匹配路由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deliverExecutorGroup.submit() → 扇出投递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RPC负载均衡模式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WRR: 加权轮询 | WR: 加权随机 | WCH: 一致性哈希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HRW: Highest Random Weight (Rendezvous Hashing)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主题匹配引擎 — TopicTrie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匹配算法: SubscriptionCache → TenantRouteCache → TopicTrie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TopicTrieNode: 按主题层级组织的Trie树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每层: NavigableMap&lt;level, TopicTrieNode&gt;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TopicFilterTrieNode 三种匹配类型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NTopicFilterTrieNode: 精确匹配层级 (如 'sensor')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STopicFilterTrieNode: 单层通配符 '+' (匹配一层)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MTopicFilterTrieNode: 多层通配符 '#' (匹配剩余所有层)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ITopicFilterIterator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init(root) → seek(filterLevels) → isValid()/next()/key()/value()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枚举所有匹配的topic filter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缓存策略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Caffeine AsyncLoadingCache&lt;RouteCacheKey, IMatchedRoutes&gt;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KV变更时增量刷新匹配缓存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扇出与投递调度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DeliverExecutorGroup.submit() 扇出逻辑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单匹配: 内联立即投递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多匹配: 检查扇出限制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MaxPersistentFanout / MaxPersistentFanoutBytes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MaxGroupFanout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3. 共享订阅路由选择: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无序: 随机选择一个receiver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有序: Rendezvous Hash by sender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投递调用链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每条NormalMatching → DeliverExecutor.send()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创建 DeliveryCall(tenantId, sub, subBrokerId, delivererKey, msgPack)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调用 messageDeliverer.schedule(request)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关键类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DeliverExecutorGroup, DeliverExecutor, DeliveryCall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MessageDeliverer — 投递管道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MessageDeliverer (BatchCallScheduler)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schedule(DeliveryCall): 按DelivererKey批量聚合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BatchDeliveryCall.execute():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构建DeliveryRequest protobuf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调用 IDeliverer.deliver(request)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两种投递路径 (按subBrokerId区分)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subBrokerId=0 (Transient 临时会话):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LocalDistService.dist()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直接推送到本地TransientSession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SessionRegistry.get(receiverId) → session.publish()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subBrokerId=1 (Persistent 持久会话):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InboxDeliverPipeline.deliver()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gRPC InboxService.receive()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写入Inbox存储 (RocksDB)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InboxReader.fetch() 流式消费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Transient Session 投递路径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  <a:latin typeface="Consolas"/>
              </a:defRPr>
            </a:pPr>
            <a:r>
              <a:t>MQTTTransientSessionHandler.publish() 流程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LocalDistService.dist(DeliveryRequest)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sessionRegistry.get(receiverId) 找到Session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session.publish(topicMsgPack, matchedTopicFilters)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MQTTTransientSessionHandler.publish():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验证topicFilter仍然有效 + incarnation版本检查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authProvider.checkPermission() 授权检查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3. 发布消息: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QoS 0: sendQoS0SubMessage() 直接写入Channel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QoS 1/2: 存入inbox NavigableMap → drain发送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  <a:latin typeface="Consolas"/>
              </a:defRPr>
            </a:pPr>
            <a:r>
              <a:t>关键类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MQTTTransientSessionHandler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LocalDistService, SessionRegistry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Persistent Session 投递路径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InboxService 接收与存储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InboxDeliverPipeline → InboxService.receive() gRPC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InboxWriter.handle(SendRequest):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解析DeliveryPack为SubMessagePack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insertScheduler.schedule(InsertRequest)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InboxStoreCoProc.mutate() BATCHINSERT → 写入KV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MQTTPersistentSessionHandler 消费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inboxReader = inboxClient.openInboxReader(tenantId, userSessionId)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inboxReader.fetch(this::consume) 流式拉取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3. consume(Fetched):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QoS 0: pubQoS0Message() → 写入Channel → confirmQoS0()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QoS 1/2: pubBufferedMessage() → stagingBuffer → drainStaging()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4. inboxReader.hint(clientReceiveQuota) 流控反馈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InboxService — 持久化邮箱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gRPC接口 (InboxService.proto)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sub(SubRequest) → 创建订阅 + distClient.addRoute()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unsub(UnsubRequest) → 删除订阅 + distClient.removeRoute()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receive(stream SendRequest) → 接收投递消息  [WCHPipeline]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fetch(stream InboxFetchHint) → 流式拉取消息  [WCHStreaming]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commit(CommitRequest) → 确认已处理的消息序号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attach/detach → 连接/断开邮箱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delete → 删除邮箱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InboxStoreCoProc (KV协处理器)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RW: batchAttach, batchDetach, batchDelete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RW: batchSub, batchUnsub, batchInsert, batchCommit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RO: batchExist, batchFetch, batchCheckSub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RO: batchSendLWT, gc, expireTenant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Retain消息 — 保留消息存储与匹配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RetainService gRPC接口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retain(RetainRequest) → 存储或删除保留消息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match(MatchRequest) → 匹配并发送保留消息给新订阅者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存储与匹配机制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RetainStoreCoProc: KV协处理器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RW: batchRetain (写入/删除), gc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RO: batchMatch (匹配查询)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RetainTopicIndex: 按主题层级索引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RetainMatcher.match(): 支持 '+' 和 '#' 通配符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MATCHED_AND_STOP / MATCHED_AND_CONTINUE / MISMATCH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投递路径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match() → messageDeliverer.schedule(DeliveryCall)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与普通消息相同的投递管道 (Transient/Persistent)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QoS保障 — 三级服务质量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423160" cy="508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onsolas"/>
              </a:defRPr>
            </a:pPr>
            <a:r>
              <a:t>QoS 0 (至多一次)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C4899"/>
                </a:solidFill>
                <a:latin typeface="Consolas"/>
              </a:defRPr>
            </a:pPr>
            <a:r>
              <a:t>sendQoS0SubMessage()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直接写入Channel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无确认机制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失败则丢弃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QoS0Dropped事件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058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051560"/>
            <a:ext cx="2423160" cy="508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onsolas"/>
              </a:defRPr>
            </a:pPr>
            <a:r>
              <a:t>QoS 1 (至少一次)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C4899"/>
                </a:solidFill>
                <a:latin typeface="Consolas"/>
              </a:defRPr>
            </a:pPr>
            <a:r>
              <a:t>sendConfirmableSubMessage()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存入unconfirmedPacketIds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等待PUBACK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超时重发: resend()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isDup=true标记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maxResendTimes限制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2423160" cy="508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onsolas"/>
              </a:defRPr>
            </a:pPr>
            <a:r>
              <a:t>QoS 2 (恰好一次)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C4899"/>
                </a:solidFill>
                <a:latin typeface="Consolas"/>
              </a:defRPr>
            </a:pPr>
            <a:r>
              <a:t>四步握手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发送PUBLISH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等待PUBREC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回复PUBREL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等待PUBCOMP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• confirm(packetId, true)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Persistent Session 确认回写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MQTTPersistentSessionHandler.onConfirm(seq)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确认stagingBuffer中到seq的消息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遇到batchEnd → 更新inboxConfirmedUpToSeq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confirmSendBuffer()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inboxClient.commit(CommitRequest{sendBufferUpToSeq})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通知InboxStore推进发送缓冲区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confirmQoS0()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inboxClient.commit(CommitRequest{qos0UpToSeq})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通知InboxStore推进QoS0已读位置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设计意义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实现At-Least-Once的存储确认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broker crash恢复后从未确认位置继续投递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外部延迟指标: MqttQoS1/2ExternalLatency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存储层 — base-kv 分布式KV引擎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架构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Raft共识层: base-kv-raft → WAL复制 + Leader选举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本地存储引擎: RocksDB (生产) / Memory (测试)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RocksDBCPableKVSpace: Checkpoint支持 + 快照恢复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IKVSpaceReader: get / exist / iterator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协处理器框架: IKVRangeCoProc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query(ROCoProcInput, IKVRangeReader) → 只读查询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mutate(RWCoProcInput, IKVRangeReader, IKVWriter) → 读写变更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每个服务提供自己的CoProc实现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KVRangeStore gRPC接口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execute(stream) → 读写操作 (含co-proc)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query(stream) → 只读操作 (含co-proc)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linearizedQuery(stream) → 线性化读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CoProc 多路复用 — 计算下推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  <a:latin typeface="Consolas"/>
              </a:defRPr>
            </a:pPr>
            <a:r>
              <a:t>CoProc.proto oneof分发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ROCoProcInput.Kind: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distService: DistWorkerCoProc (路由匹配 + 消息分发)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inboxService: InboxStoreCoProc (邮箱读写)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retainService: RetainStoreCoProc (保留消息操作)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RWCoProcInput.Kind: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distService: BatchMatch / BatchUnmatch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inboxService: BatchAttach/Detach/Delete/Sub/Unsub/Insert/Commit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retainService: BatchRetain / GC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  <a:latin typeface="Consolas"/>
              </a:defRPr>
            </a:pPr>
            <a:r>
              <a:t>设计优势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统一的KV存储 + 领域逻辑内嵌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减少网络跳转: 读写在同一Raft Group内完成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计算下推到存储层: 匹配/路由/插入直接在KV引擎内执行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RPC层 — base-rpc 通信框架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IRPCClient 三种通信模式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invoke() → 一元请求/响应 (tenant感知路由)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createRequestPipeline() → 管道化批量请求 (自动再平衡)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createMessageStream() → 双向消息流 (服务端推送+客户端ACK)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BluePrint 方法语义与负载均衡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DD: Direct Dispatch (直连指定server)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WRR: Weighted Round-Robin (加权轮询)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WR: Weighted Random (加权随机)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WCH: Weighted Consistent Hash (一致性哈希, key=tenantId/inboxId)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HRW: Highest Random Weight (Rendezvous Hashing)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  <a:latin typeface="Consolas"/>
              </a:defRPr>
            </a:pPr>
            <a:r>
              <a:t>InProc优化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同进程服务走InProcessTransport → 零网络开销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DelegatingTransportFactory自动路由InProc/InterProc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集群层 — SessionDict 会话管理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SessionDictService — 纯内存会话注册表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• dict(stream Session) → bidi-stream会话注册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SessionRegister: keep=true注册 / keep=false注销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SessionRegistry: tenantSessions + clientRegisterMap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会话冲突处理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同clientId冲突: kick旧会话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→ 发送Quit proto → 旧broker断开旧客户端连接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kill/killAll: 管理踢出操作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代理操作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sub/unsub: 代理到对应broker节点的mqttBrokerClient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inboxState: Persistent→inboxClient.state(), Transient→mqttBrokerClient.inboxState()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RPC模式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dict=WCHStreaming, kill/killAll=DD/WCH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SUBSCRIBE消息处理路径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859536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MQTTSessionHandler.handleSubMsg() 流程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1. validateSubMessage() → 验证报文格式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2. getSubTask() → 提取订阅任务列表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  <a:r>
              <a:t>3. checkAndSubscribe() → 逐个处理: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UTF-8编码验证 + 通配符/共享订阅设置检查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authProvider.checkPermission(SUB_ACTION)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 → subTopicFilter(reqId, topicFilter, option)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Transient路径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topicFilters.put() + localDistService.match()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distClient.addRoute() 注册路由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Persistent路径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inboxClient.sub(SubRequest) → InboxService.sub()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InboxService内部: distClient.addRoute() 注册路由</a:t>
            </a: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Consolas"/>
              </a:defRPr>
            </a:pPr>
            <a:r>
              <a:t>保留消息匹配</a:t>
            </a:r>
          </a:p>
          <a:p>
            <a:pPr>
              <a:spcAft>
                <a:spcPts val="40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→ retainClient.match() → RetainService.match()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PUBLISH → SUBSCRIBE 端到端流程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97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Publisher → Broker接入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44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TCP/QUIC → MqttDecoder → MQTTSessionHandler.doPub() → authProvider.checkPermission()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167132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Broker → DistService路由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04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distClient.pub() → DistService.dist() gRPC → DistWorkerCoProc.batchDist() → routeCache匹配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14800" y="263144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DistService → 扇出调度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644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DeliverExecutorGroup.submit() → MessageDeliverer.schedule() → 批量聚合投递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14800" y="359156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77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Transient投递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24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LocalDistService.dist() → session.publish() → sendQoS0/Confirmable → Netty Channel → TCP/QUIC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114800" y="455168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498348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Persistent存储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846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InboxDeliverPipeline → InboxService.receive() → InboxStoreCoProc.batchInsert → RocksDB KV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114800" y="5511800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85216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59436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onsolas"/>
              </a:defRPr>
            </a:pPr>
            <a:r>
              <a:t>Persistent消费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144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InboxReader.fetch() → consume() → PUBACK → confirm() → inboxClient.commit() 回写确认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onsolas"/>
              </a:defRPr>
            </a:pPr>
            <a:r>
              <a:t>#24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onsolas"/>
              </a:defRPr>
            </a:pPr>
            <a:r>
              <a:t>关键性能设计总结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777240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42316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onsolas"/>
              </a:defRPr>
            </a:pPr>
            <a:r>
              <a:t>高并发策略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批量聚合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BatchCallScheduler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(Dist/Inbox/Deliverer)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异步管道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gRPC bidi-stream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+ CompletableFuture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InProc零拷贝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InProcessTransport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058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051560"/>
            <a:ext cx="242316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onsolas"/>
              </a:defRPr>
            </a:pPr>
            <a:r>
              <a:t>可靠性保障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Raft共识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KV数据强一致性复制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QoS重发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unconfirmedPacketIds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+ 定时resend()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持久确认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inboxClient.commit()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回写确认位置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242316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onsolas"/>
              </a:defRPr>
            </a:pPr>
            <a:r>
              <a:t>扩展性设计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KV Range Split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自动分片+负载均衡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多租户隔离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tenantId全链路透传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onsolas"/>
              </a:defRPr>
            </a:pPr>
            <a:r>
              <a:t>插件SPI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Auth/Throttle/Settings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/Events热插拔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onsolas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D3EE"/>
                </a:solidFill>
                <a:latin typeface="Consolas"/>
              </a:defRPr>
            </a:pPr>
            <a:r>
              <a:t>接入→认证→路由→存储→投递→确认 | 高性能·多租户·分布式MQTT Broker</a:t>
            </a:r>
            <a:br/>
            <a:r>
              <a:t>Apache BifroMQ (Incubating)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